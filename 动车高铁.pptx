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264" r:id="rId2"/>
    <p:sldId id="4293" r:id="rId3"/>
    <p:sldId id="4294" r:id="rId4"/>
    <p:sldId id="4335" r:id="rId5"/>
    <p:sldId id="4295" r:id="rId6"/>
    <p:sldId id="4371" r:id="rId7"/>
    <p:sldId id="4372" r:id="rId8"/>
    <p:sldId id="4354" r:id="rId9"/>
    <p:sldId id="4296" r:id="rId10"/>
    <p:sldId id="4342" r:id="rId11"/>
    <p:sldId id="4370" r:id="rId12"/>
    <p:sldId id="4355" r:id="rId13"/>
    <p:sldId id="4358" r:id="rId14"/>
    <p:sldId id="4364" r:id="rId15"/>
    <p:sldId id="4365" r:id="rId16"/>
    <p:sldId id="4297" r:id="rId17"/>
    <p:sldId id="4360" r:id="rId18"/>
    <p:sldId id="4359" r:id="rId19"/>
    <p:sldId id="4361" r:id="rId20"/>
    <p:sldId id="4362" r:id="rId21"/>
    <p:sldId id="4352" r:id="rId22"/>
    <p:sldId id="4292" r:id="rId23"/>
  </p:sldIdLst>
  <p:sldSz cx="12858750" cy="723265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8F45"/>
    <a:srgbClr val="BFBFBF"/>
    <a:srgbClr val="FFFFFF"/>
    <a:srgbClr val="363636"/>
    <a:srgbClr val="000000"/>
    <a:srgbClr val="FF0000"/>
    <a:srgbClr val="3B5C94"/>
    <a:srgbClr val="01C6D9"/>
    <a:srgbClr val="07913A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5394" autoAdjust="0"/>
  </p:normalViewPr>
  <p:slideViewPr>
    <p:cSldViewPr showGuides="1">
      <p:cViewPr varScale="1">
        <p:scale>
          <a:sx n="98" d="100"/>
          <a:sy n="98" d="100"/>
        </p:scale>
        <p:origin x="68" y="212"/>
      </p:cViewPr>
      <p:guideLst>
        <p:guide orient="horz" pos="328"/>
        <p:guide pos="4050"/>
        <p:guide pos="557"/>
        <p:guide orient="horz" pos="4178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32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2023/7/4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t>2023/7/4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20663" y="808013"/>
            <a:ext cx="12858750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2023/7/4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-32295" y="808013"/>
            <a:ext cx="2540943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7344" y="1183677"/>
            <a:ext cx="9644063" cy="2518034"/>
          </a:xfrm>
        </p:spPr>
        <p:txBody>
          <a:bodyPr anchor="b"/>
          <a:lstStyle>
            <a:lvl1pPr algn="ctr">
              <a:defRPr sz="63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7344" y="3798816"/>
            <a:ext cx="9644063" cy="1746216"/>
          </a:xfrm>
        </p:spPr>
        <p:txBody>
          <a:bodyPr/>
          <a:lstStyle>
            <a:lvl1pPr marL="0" indent="0" algn="ctr">
              <a:buNone/>
              <a:defRPr sz="2530"/>
            </a:lvl1pPr>
            <a:lvl2pPr marL="481965" indent="0" algn="ctr">
              <a:buNone/>
              <a:defRPr sz="2110"/>
            </a:lvl2pPr>
            <a:lvl3pPr marL="964565" indent="0" algn="ctr">
              <a:buNone/>
              <a:defRPr sz="1900"/>
            </a:lvl3pPr>
            <a:lvl4pPr marL="1446530" indent="0" algn="ctr">
              <a:buNone/>
              <a:defRPr sz="1685"/>
            </a:lvl4pPr>
            <a:lvl5pPr marL="1928495" indent="0" algn="ctr">
              <a:buNone/>
              <a:defRPr sz="1685"/>
            </a:lvl5pPr>
            <a:lvl6pPr marL="2411095" indent="0" algn="ctr">
              <a:buNone/>
              <a:defRPr sz="1685"/>
            </a:lvl6pPr>
            <a:lvl7pPr marL="2893060" indent="0" algn="ctr">
              <a:buNone/>
              <a:defRPr sz="1685"/>
            </a:lvl7pPr>
            <a:lvl8pPr marL="3375025" indent="0" algn="ctr">
              <a:buNone/>
              <a:defRPr sz="1685"/>
            </a:lvl8pPr>
            <a:lvl9pPr marL="3856990" indent="0" algn="ctr">
              <a:buNone/>
              <a:defRPr sz="168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6A0B-D013-4F07-80AC-CA47C8F94CA0}" type="datetimeFigureOut">
              <a:rPr lang="zh-CN" altLang="en-US" smtClean="0"/>
              <a:t>2023/7/4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2023/7/4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9542671" y="675448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039" y="1925358"/>
            <a:ext cx="11090672" cy="458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  <a:t>2023/7/4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+mn-lt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+mn-lt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+mn-lt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/>
          <a:srcRect t="53421"/>
          <a:stretch>
            <a:fillRect/>
          </a:stretch>
        </p:blipFill>
        <p:spPr bwMode="auto">
          <a:xfrm>
            <a:off x="0" y="2104157"/>
            <a:ext cx="12858750" cy="5128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4845710" y="4480370"/>
            <a:ext cx="7448525" cy="243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zh-CN" altLang="en-US" sz="7200" b="1" dirty="0">
                <a:solidFill>
                  <a:schemeClr val="accent1"/>
                </a:solidFill>
                <a:cs typeface="Arial" panose="020B0604020202020204" pitchFamily="34" charset="0"/>
              </a:rPr>
              <a:t>火车购票系统</a:t>
            </a:r>
          </a:p>
          <a:p>
            <a:pPr algn="r">
              <a:buNone/>
            </a:pPr>
            <a:r>
              <a:rPr lang="zh-CN" altLang="en-US" sz="7200" b="1" dirty="0">
                <a:solidFill>
                  <a:schemeClr val="accent1"/>
                </a:solidFill>
                <a:cs typeface="Arial" panose="020B0604020202020204" pitchFamily="34" charset="0"/>
              </a:rPr>
              <a:t>第一组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41070" y="5815330"/>
            <a:ext cx="4696460" cy="1076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成员：武恒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胡希言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陈艳（按首字母大小排序）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99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6" grpId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H_Others_1"/>
          <p:cNvSpPr txBox="1"/>
          <p:nvPr>
            <p:custDataLst>
              <p:tags r:id="rId1"/>
            </p:custDataLst>
          </p:nvPr>
        </p:nvSpPr>
        <p:spPr>
          <a:xfrm>
            <a:off x="1213433" y="2365959"/>
            <a:ext cx="3077903" cy="176939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115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</a:p>
        </p:txBody>
      </p:sp>
      <p:sp>
        <p:nvSpPr>
          <p:cNvPr id="19" name="MH_Others_2"/>
          <p:cNvSpPr txBox="1"/>
          <p:nvPr>
            <p:custDataLst>
              <p:tags r:id="rId2"/>
            </p:custDataLst>
          </p:nvPr>
        </p:nvSpPr>
        <p:spPr>
          <a:xfrm>
            <a:off x="1102828" y="4221916"/>
            <a:ext cx="3299115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4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sz="4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 flipH="1">
            <a:off x="3837229" y="199"/>
            <a:ext cx="6140653" cy="7232253"/>
          </a:xfrm>
          <a:custGeom>
            <a:avLst/>
            <a:gdLst>
              <a:gd name="connsiteX0" fmla="*/ 0 w 7357707"/>
              <a:gd name="connsiteY0" fmla="*/ 0 h 7232650"/>
              <a:gd name="connsiteX1" fmla="*/ 2636168 w 7357707"/>
              <a:gd name="connsiteY1" fmla="*/ 0 h 7232650"/>
              <a:gd name="connsiteX2" fmla="*/ 7357707 w 7357707"/>
              <a:gd name="connsiteY2" fmla="*/ 7232650 h 7232650"/>
              <a:gd name="connsiteX3" fmla="*/ 4721539 w 7357707"/>
              <a:gd name="connsiteY3" fmla="*/ 7232650 h 723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7707" h="7232650">
                <a:moveTo>
                  <a:pt x="0" y="0"/>
                </a:moveTo>
                <a:lnTo>
                  <a:pt x="2636168" y="0"/>
                </a:lnTo>
                <a:lnTo>
                  <a:pt x="7357707" y="7232650"/>
                </a:lnTo>
                <a:lnTo>
                  <a:pt x="4721539" y="7232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8573" tIns="64286" rIns="128573" bIns="64286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" name="MH_Number_1"/>
          <p:cNvSpPr/>
          <p:nvPr>
            <p:custDataLst>
              <p:tags r:id="rId3"/>
            </p:custDataLst>
          </p:nvPr>
        </p:nvSpPr>
        <p:spPr>
          <a:xfrm>
            <a:off x="8448802" y="2222416"/>
            <a:ext cx="379647" cy="37964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211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7" name="MH_Number_2"/>
          <p:cNvSpPr/>
          <p:nvPr>
            <p:custDataLst>
              <p:tags r:id="rId4"/>
            </p:custDataLst>
          </p:nvPr>
        </p:nvSpPr>
        <p:spPr>
          <a:xfrm>
            <a:off x="7938798" y="3115756"/>
            <a:ext cx="379647" cy="379647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211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0" name="MH_Entry_2"/>
          <p:cNvSpPr/>
          <p:nvPr>
            <p:custDataLst>
              <p:tags r:id="rId5"/>
            </p:custDataLst>
          </p:nvPr>
        </p:nvSpPr>
        <p:spPr>
          <a:xfrm>
            <a:off x="8497945" y="3055621"/>
            <a:ext cx="2251057" cy="5734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53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需求分析</a:t>
            </a:r>
            <a:endParaRPr lang="en-US" altLang="zh-CN" sz="253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/>
            <a:r>
              <a:rPr lang="en-US" altLang="zh-CN" sz="1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REQUIREMENT ANALYSIS</a:t>
            </a:r>
          </a:p>
        </p:txBody>
      </p:sp>
      <p:sp>
        <p:nvSpPr>
          <p:cNvPr id="21" name="MH_Number_3"/>
          <p:cNvSpPr/>
          <p:nvPr>
            <p:custDataLst>
              <p:tags r:id="rId6"/>
            </p:custDataLst>
          </p:nvPr>
        </p:nvSpPr>
        <p:spPr>
          <a:xfrm>
            <a:off x="7428792" y="4009096"/>
            <a:ext cx="379647" cy="379647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211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2" name="MH_Entry_3"/>
          <p:cNvSpPr/>
          <p:nvPr>
            <p:custDataLst>
              <p:tags r:id="rId7"/>
            </p:custDataLst>
          </p:nvPr>
        </p:nvSpPr>
        <p:spPr>
          <a:xfrm>
            <a:off x="8006080" y="3959860"/>
            <a:ext cx="2217420" cy="56261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en-US" sz="253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  <a:endParaRPr lang="en-US" altLang="zh-CN" sz="253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/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SUCCESSFUL PROJECT</a:t>
            </a:r>
            <a:endParaRPr lang="zh-CN" altLang="en-US" sz="1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MH_Number_4"/>
          <p:cNvSpPr/>
          <p:nvPr>
            <p:custDataLst>
              <p:tags r:id="rId8"/>
            </p:custDataLst>
          </p:nvPr>
        </p:nvSpPr>
        <p:spPr>
          <a:xfrm>
            <a:off x="6918786" y="4902435"/>
            <a:ext cx="379647" cy="379647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211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4" name="MH_Entry_4"/>
          <p:cNvSpPr/>
          <p:nvPr>
            <p:custDataLst>
              <p:tags r:id="rId9"/>
            </p:custDataLst>
          </p:nvPr>
        </p:nvSpPr>
        <p:spPr>
          <a:xfrm>
            <a:off x="7446970" y="4842301"/>
            <a:ext cx="2251057" cy="5734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53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原理及代码</a:t>
            </a:r>
            <a:endParaRPr lang="en-US" altLang="zh-CN" sz="253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/>
            <a:r>
              <a:rPr lang="en-US" altLang="zh-CN" sz="1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PRINCIPLE AND CODE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49690" y="2176145"/>
            <a:ext cx="2000885" cy="664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53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项目背景</a:t>
            </a:r>
          </a:p>
          <a:p>
            <a:r>
              <a:rPr lang="en-US" altLang="zh-CN" sz="1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BACKGROUD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0" grpId="0" animBg="1"/>
      <p:bldP spid="11" grpId="0" animBg="1"/>
      <p:bldP spid="17" grpId="0" animBg="1"/>
      <p:bldP spid="20" grpId="0" bldLvl="0" animBg="1"/>
      <p:bldP spid="21" grpId="0" animBg="1"/>
      <p:bldP spid="22" grpId="0" bldLvl="0" animBg="1"/>
      <p:bldP spid="23" grpId="0" animBg="1"/>
      <p:bldP spid="2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482496" y="3456696"/>
            <a:ext cx="920124" cy="648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37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</a:t>
            </a:r>
            <a:r>
              <a:rPr lang="en-US" altLang="zh-CN" sz="4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art</a:t>
            </a:r>
            <a:endParaRPr lang="zh-CN" altLang="en-US" sz="12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225131" y="3003593"/>
            <a:ext cx="6633266" cy="120537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41681" rIns="949115" anchor="ctr"/>
          <a:lstStyle/>
          <a:p>
            <a:pPr>
              <a:lnSpc>
                <a:spcPct val="130000"/>
              </a:lnSpc>
              <a:defRPr/>
            </a:pPr>
            <a:endParaRPr lang="zh-CN" altLang="en-US" sz="1475" kern="0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52" name="文本框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19529" y="3285934"/>
            <a:ext cx="646010" cy="34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</a:p>
        </p:txBody>
      </p:sp>
      <p:sp>
        <p:nvSpPr>
          <p:cNvPr id="2053" name="文本框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4077" y="2808806"/>
            <a:ext cx="1442703" cy="155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12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10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标题 5"/>
          <p:cNvSpPr txBox="1"/>
          <p:nvPr>
            <p:custDataLst>
              <p:tags r:id="rId6"/>
            </p:custDataLst>
          </p:nvPr>
        </p:nvSpPr>
        <p:spPr>
          <a:xfrm>
            <a:off x="6631398" y="3236745"/>
            <a:ext cx="4257961" cy="55372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000"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400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项目背景</a:t>
            </a:r>
          </a:p>
        </p:txBody>
      </p:sp>
      <p:sp>
        <p:nvSpPr>
          <p:cNvPr id="7" name="文本占位符 6"/>
          <p:cNvSpPr txBox="1"/>
          <p:nvPr>
            <p:custDataLst>
              <p:tags r:id="rId7"/>
            </p:custDataLst>
          </p:nvPr>
        </p:nvSpPr>
        <p:spPr>
          <a:xfrm>
            <a:off x="6631398" y="3813919"/>
            <a:ext cx="4257961" cy="22098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aseline="0">
                <a:solidFill>
                  <a:schemeClr val="bg1">
                    <a:lumMod val="50000"/>
                  </a:schemeClr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/>
            </a:pPr>
            <a:r>
              <a:rPr lang="en-US" altLang="zh-CN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BACKGROUD</a:t>
            </a:r>
          </a:p>
        </p:txBody>
      </p:sp>
    </p:spTree>
    <p:custDataLst>
      <p:tags r:id="rId1"/>
    </p:custData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2052" grpId="0"/>
      <p:bldP spid="2053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8455" y="157480"/>
            <a:ext cx="4290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项目背景及目的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8630" y="1353820"/>
            <a:ext cx="118586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(1) 通过小组协作完成一个高铁客运车票管理系统的程序设计。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(2) 让同学们完整体验一个软件项目的开发流程，培养同学们的工程思维，为日后工作打下良好基础。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(3) 加强同学们对管理类软件设计的了解，锻炼同学们分析产品需求的能力。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(4) 通过同学们之间的交流合作，提升大家交流沟通、以及团队协作的能力，同时，组内同学们各自负责项目中不同的功能模块，最后又将其整合，这能够加深同学们对模块化编程的理解。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(5) 对软件进行优化的过程，能够巩固同学们在数据结构中学习的算法知识，增多同学们的实战经验，发现自己在理论学习中优点和缺点，便于以后的学习与改进。</a:t>
            </a:r>
            <a:endParaRPr lang="en-US" altLang="zh-CN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zh-CN" altLang="en-US" sz="2400" b="1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482496" y="3456696"/>
            <a:ext cx="920124" cy="648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37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</a:t>
            </a:r>
            <a:r>
              <a:rPr lang="en-US" altLang="zh-CN" sz="4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art</a:t>
            </a:r>
            <a:endParaRPr lang="zh-CN" altLang="en-US" sz="12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225131" y="3003593"/>
            <a:ext cx="6633266" cy="120537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41681" rIns="949115" anchor="ctr"/>
          <a:lstStyle/>
          <a:p>
            <a:pPr>
              <a:lnSpc>
                <a:spcPct val="130000"/>
              </a:lnSpc>
              <a:defRPr/>
            </a:pPr>
            <a:endParaRPr lang="zh-CN" altLang="en-US" sz="1475" kern="0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52" name="文本框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19529" y="3285934"/>
            <a:ext cx="646010" cy="34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</a:p>
        </p:txBody>
      </p:sp>
      <p:sp>
        <p:nvSpPr>
          <p:cNvPr id="2053" name="文本框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4077" y="2808806"/>
            <a:ext cx="1442703" cy="155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12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10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标题 5"/>
          <p:cNvSpPr txBox="1"/>
          <p:nvPr>
            <p:custDataLst>
              <p:tags r:id="rId6"/>
            </p:custDataLst>
          </p:nvPr>
        </p:nvSpPr>
        <p:spPr>
          <a:xfrm>
            <a:off x="6631398" y="3236745"/>
            <a:ext cx="4257961" cy="55372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000"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400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需求分析</a:t>
            </a:r>
          </a:p>
        </p:txBody>
      </p:sp>
      <p:sp>
        <p:nvSpPr>
          <p:cNvPr id="7" name="文本占位符 6"/>
          <p:cNvSpPr txBox="1"/>
          <p:nvPr>
            <p:custDataLst>
              <p:tags r:id="rId7"/>
            </p:custDataLst>
          </p:nvPr>
        </p:nvSpPr>
        <p:spPr>
          <a:xfrm>
            <a:off x="6631398" y="3813919"/>
            <a:ext cx="4257961" cy="22098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aseline="0">
                <a:solidFill>
                  <a:schemeClr val="bg1">
                    <a:lumMod val="50000"/>
                  </a:schemeClr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/>
            </a:pPr>
            <a:r>
              <a:rPr lang="en-US" altLang="zh-CN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REQUIREMENT ANALYSIS</a:t>
            </a:r>
          </a:p>
        </p:txBody>
      </p:sp>
    </p:spTree>
    <p:custDataLst>
      <p:tags r:id="rId1"/>
    </p:custData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2052" grpId="0"/>
      <p:bldP spid="2053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20B794-A37D-135F-E399-647973FA6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35" y="808013"/>
            <a:ext cx="9334980" cy="23432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8D14300-BC81-5CBE-6751-8183ED4DF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43" y="3400301"/>
            <a:ext cx="9366731" cy="21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2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8BE9E2-0212-C10C-EBA0-14C82E6EF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19" y="1096045"/>
            <a:ext cx="6154976" cy="589047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54C3E5-F391-BEA5-6C4E-73FCDE394721}"/>
              </a:ext>
            </a:extLst>
          </p:cNvPr>
          <p:cNvSpPr txBox="1"/>
          <p:nvPr/>
        </p:nvSpPr>
        <p:spPr>
          <a:xfrm>
            <a:off x="338455" y="157480"/>
            <a:ext cx="4290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功能界面列表</a:t>
            </a:r>
          </a:p>
        </p:txBody>
      </p:sp>
    </p:spTree>
    <p:extLst>
      <p:ext uri="{BB962C8B-B14F-4D97-AF65-F5344CB8AC3E}">
        <p14:creationId xmlns:p14="http://schemas.microsoft.com/office/powerpoint/2010/main" val="33610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8455" y="72390"/>
            <a:ext cx="357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思路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72390"/>
            <a:ext cx="12652375" cy="71894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482496" y="3456696"/>
            <a:ext cx="920124" cy="648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37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</a:t>
            </a:r>
            <a:r>
              <a:rPr lang="en-US" altLang="zh-CN" sz="4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art</a:t>
            </a:r>
            <a:endParaRPr lang="zh-CN" altLang="en-US" sz="12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225131" y="3003593"/>
            <a:ext cx="6633266" cy="120537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41681" rIns="949115" anchor="ctr"/>
          <a:lstStyle/>
          <a:p>
            <a:pPr>
              <a:lnSpc>
                <a:spcPct val="130000"/>
              </a:lnSpc>
              <a:defRPr/>
            </a:pPr>
            <a:endParaRPr lang="zh-CN" altLang="en-US" sz="1475" kern="0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52" name="文本框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19529" y="3285934"/>
            <a:ext cx="646010" cy="34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</a:p>
        </p:txBody>
      </p:sp>
      <p:sp>
        <p:nvSpPr>
          <p:cNvPr id="2053" name="文本框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4077" y="2808806"/>
            <a:ext cx="1442703" cy="155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12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10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标题 5"/>
          <p:cNvSpPr txBox="1"/>
          <p:nvPr>
            <p:custDataLst>
              <p:tags r:id="rId6"/>
            </p:custDataLst>
          </p:nvPr>
        </p:nvSpPr>
        <p:spPr>
          <a:xfrm>
            <a:off x="6631398" y="3236745"/>
            <a:ext cx="4257961" cy="55387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000"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400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</a:p>
        </p:txBody>
      </p:sp>
      <p:sp>
        <p:nvSpPr>
          <p:cNvPr id="7" name="文本占位符 6"/>
          <p:cNvSpPr txBox="1"/>
          <p:nvPr>
            <p:custDataLst>
              <p:tags r:id="rId7"/>
            </p:custDataLst>
          </p:nvPr>
        </p:nvSpPr>
        <p:spPr>
          <a:xfrm>
            <a:off x="6631398" y="3813919"/>
            <a:ext cx="4257961" cy="221599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aseline="0">
                <a:solidFill>
                  <a:schemeClr val="bg1">
                    <a:lumMod val="50000"/>
                  </a:schemeClr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/>
            </a:pPr>
            <a:r>
              <a:rPr lang="en-US" altLang="zh-CN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TO ADD CAPTION TEXT</a:t>
            </a:r>
          </a:p>
        </p:txBody>
      </p:sp>
    </p:spTree>
    <p:custDataLst>
      <p:tags r:id="rId1"/>
    </p:custData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2052" grpId="0"/>
      <p:bldP spid="2053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8455" y="72390"/>
            <a:ext cx="5200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主页面界面展示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808355"/>
            <a:ext cx="7284085" cy="62579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0175" y="3175"/>
            <a:ext cx="4283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注册页面展示</a:t>
            </a:r>
          </a:p>
        </p:txBody>
      </p:sp>
      <p:pic>
        <p:nvPicPr>
          <p:cNvPr id="3" name="图片 2" descr="5@2}]55I6BA}}L26UIR]4~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5100" y="848995"/>
            <a:ext cx="9514840" cy="6065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8455" y="72390"/>
            <a:ext cx="4375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查询车票界面展示</a:t>
            </a:r>
          </a:p>
        </p:txBody>
      </p:sp>
      <p:pic>
        <p:nvPicPr>
          <p:cNvPr id="3" name="图片 2" descr="XXXGR$_~~6@MRG$WJ2LP1CM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2710" y="880110"/>
            <a:ext cx="12858750" cy="60420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8455" y="72390"/>
            <a:ext cx="7327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管理员管理功能界面展示</a:t>
            </a:r>
          </a:p>
        </p:txBody>
      </p:sp>
      <p:pic>
        <p:nvPicPr>
          <p:cNvPr id="3" name="图片 2" descr="~F948_$%YAQ53XH2_J7X}I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2710" y="808355"/>
            <a:ext cx="12038330" cy="65976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970" y="111125"/>
            <a:ext cx="771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添加车次判错</a:t>
            </a: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236855" y="951865"/>
            <a:ext cx="10828020" cy="6150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970" y="111125"/>
            <a:ext cx="771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充值界面代码改进</a:t>
            </a:r>
          </a:p>
        </p:txBody>
      </p:sp>
      <p:pic>
        <p:nvPicPr>
          <p:cNvPr id="3" name="图片 2" descr="XZVFEIBKRX6@J)`74[SNVK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6855" y="863600"/>
            <a:ext cx="9370060" cy="62579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482496" y="3456696"/>
            <a:ext cx="920124" cy="648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37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</a:t>
            </a:r>
            <a:r>
              <a:rPr lang="en-US" altLang="zh-CN" sz="4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art</a:t>
            </a:r>
            <a:endParaRPr lang="zh-CN" altLang="en-US" sz="12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6225131" y="3003593"/>
            <a:ext cx="6633266" cy="120537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41681" rIns="949115" anchor="ctr"/>
          <a:lstStyle/>
          <a:p>
            <a:pPr>
              <a:lnSpc>
                <a:spcPct val="130000"/>
              </a:lnSpc>
              <a:defRPr/>
            </a:pPr>
            <a:endParaRPr lang="zh-CN" altLang="en-US" sz="1475" kern="0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52" name="文本框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19529" y="3285934"/>
            <a:ext cx="646010" cy="34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1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</a:p>
        </p:txBody>
      </p:sp>
      <p:sp>
        <p:nvSpPr>
          <p:cNvPr id="2053" name="文本框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4077" y="2808806"/>
            <a:ext cx="1442703" cy="1557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12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1012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标题 5"/>
          <p:cNvSpPr txBox="1"/>
          <p:nvPr>
            <p:custDataLst>
              <p:tags r:id="rId6"/>
            </p:custDataLst>
          </p:nvPr>
        </p:nvSpPr>
        <p:spPr>
          <a:xfrm>
            <a:off x="6631398" y="3236745"/>
            <a:ext cx="4257961" cy="55372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000"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400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原理及代码</a:t>
            </a:r>
          </a:p>
        </p:txBody>
      </p:sp>
      <p:sp>
        <p:nvSpPr>
          <p:cNvPr id="7" name="文本占位符 6"/>
          <p:cNvSpPr txBox="1"/>
          <p:nvPr>
            <p:custDataLst>
              <p:tags r:id="rId7"/>
            </p:custDataLst>
          </p:nvPr>
        </p:nvSpPr>
        <p:spPr>
          <a:xfrm>
            <a:off x="6631398" y="3813919"/>
            <a:ext cx="4257961" cy="22098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aseline="0">
                <a:solidFill>
                  <a:schemeClr val="bg1">
                    <a:lumMod val="50000"/>
                  </a:schemeClr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/>
            </a:pPr>
            <a:r>
              <a:rPr lang="en-US" altLang="zh-CN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PRINCIPLE AND CODE</a:t>
            </a:r>
          </a:p>
        </p:txBody>
      </p:sp>
    </p:spTree>
    <p:custDataLst>
      <p:tags r:id="rId1"/>
    </p:custData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2052" grpId="0"/>
      <p:bldP spid="2053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4679" y="159941"/>
            <a:ext cx="771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页面跳转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CADE78-0980-73C2-B300-2132C946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2" y="978148"/>
            <a:ext cx="3528392" cy="52763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4BE93E-7900-839B-9EA5-D4BF82CC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215" y="1247152"/>
            <a:ext cx="4951113" cy="47383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AB2056-B62B-8FBE-F201-043229C81F8D}"/>
              </a:ext>
            </a:extLst>
          </p:cNvPr>
          <p:cNvSpPr txBox="1"/>
          <p:nvPr/>
        </p:nvSpPr>
        <p:spPr>
          <a:xfrm>
            <a:off x="7365479" y="5523831"/>
            <a:ext cx="460851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通过参数</a:t>
            </a:r>
            <a:r>
              <a:rPr lang="en-US" altLang="zh-CN" dirty="0" err="1"/>
              <a:t>dq_page</a:t>
            </a:r>
            <a:r>
              <a:rPr lang="zh-CN" altLang="en-US" dirty="0"/>
              <a:t>控制跳转页面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循环语句嵌套条件判断，使其可持续运行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671" y="159941"/>
            <a:ext cx="771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通过路径限制实现权限控制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80CAB0-965D-BF17-7361-8D2295C0AB4A}"/>
              </a:ext>
            </a:extLst>
          </p:cNvPr>
          <p:cNvSpPr txBox="1"/>
          <p:nvPr/>
        </p:nvSpPr>
        <p:spPr>
          <a:xfrm>
            <a:off x="452711" y="1168053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以登录注册模块为例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E403C5-012B-47A5-3210-88A306C2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22" y="1636295"/>
            <a:ext cx="12331906" cy="520050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0703" y="231949"/>
            <a:ext cx="771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页面返回参数限制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7657F1-EBA8-35F2-BDA0-8E0AA751D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84" y="1024037"/>
            <a:ext cx="5797848" cy="32577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C247E2-C9FC-4447-99F3-F5171AF70504}"/>
              </a:ext>
            </a:extLst>
          </p:cNvPr>
          <p:cNvSpPr txBox="1"/>
          <p:nvPr/>
        </p:nvSpPr>
        <p:spPr>
          <a:xfrm>
            <a:off x="380184" y="4454507"/>
            <a:ext cx="532859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实现路径限制，对应分支只能返回一定的参数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循环语句嵌套条件判断，使其可持续运行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B9C4CA-AD59-6D3E-4037-4DC1BFA6F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15" y="952029"/>
            <a:ext cx="4951113" cy="47383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970" y="111125"/>
            <a:ext cx="771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模块化程序设计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149916-683C-5633-E0CE-DF773A87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431" y="952029"/>
            <a:ext cx="5089903" cy="58514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AEC1F4-512C-0B5A-4B5E-0B94BE8D2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35" y="1096045"/>
            <a:ext cx="6058211" cy="28957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EF883E-C1AB-DB08-F1FE-6F52899E2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35" y="3389813"/>
            <a:ext cx="5040560" cy="32176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7A1E2C-3D7D-978A-0D72-504EC14F0069}"/>
              </a:ext>
            </a:extLst>
          </p:cNvPr>
          <p:cNvSpPr txBox="1"/>
          <p:nvPr/>
        </p:nvSpPr>
        <p:spPr>
          <a:xfrm>
            <a:off x="3044999" y="5416525"/>
            <a:ext cx="532859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#include</a:t>
            </a:r>
            <a:r>
              <a:rPr lang="zh-CN" altLang="en-US" dirty="0"/>
              <a:t>命令对自定义的数据类型和函数进行封装，后续不同成员进行版本更新时，可直接进行头文件的替换，而非手动修改函数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/>
          <a:srcRect t="53421"/>
          <a:stretch>
            <a:fillRect/>
          </a:stretch>
        </p:blipFill>
        <p:spPr bwMode="auto">
          <a:xfrm>
            <a:off x="0" y="2104157"/>
            <a:ext cx="12858750" cy="5128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4629175" y="4677220"/>
            <a:ext cx="744852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en-US" altLang="zh-CN" sz="8800" b="1" dirty="0">
                <a:solidFill>
                  <a:schemeClr val="accent1"/>
                </a:solidFill>
                <a:cs typeface="Arial" panose="020B0604020202020204" pitchFamily="34" charset="0"/>
              </a:rPr>
              <a:t>THANK YOU</a:t>
            </a:r>
            <a:endParaRPr lang="zh-CN" altLang="en-US" sz="88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520378" y="4296356"/>
            <a:ext cx="55573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zh-CN" altLang="en-US" sz="2800" dirty="0">
                <a:solidFill>
                  <a:schemeClr val="accent1"/>
                </a:solidFill>
                <a:cs typeface="Arial" panose="020B0604020202020204" pitchFamily="34" charset="0"/>
              </a:rPr>
              <a:t>感谢聆听，批评指导</a:t>
            </a:r>
            <a:endParaRPr lang="en-US" altLang="zh-CN" sz="2800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99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99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99"/>
                            </p:stCondLst>
                            <p:childTnLst>
                              <p:par>
                                <p:cTn id="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6" grpId="1"/>
      <p:bldP spid="7" grpId="0"/>
      <p:bldP spid="7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812"/>
  <p:tag name="KSO_WPP_MARK_KEY" val="ee9b7c55-83c4-495a-baf2-878213be27d6"/>
  <p:tag name="COMMONDATA" val="eyJoZGlkIjoiOGE0NjlhZDdjNDgyMTFhYTk2OWE3ODZkNmY0MzYzO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TextBox 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Rectangle 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标题 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文本占位符 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TextBox 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Rectangle 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标题 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文本占位符 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TextBox 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Rectangle 1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标题 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文本占位符 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TextBox 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Rectangle 1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03"/>
  <p:tag name="MH_LIBRARY" val="GRAPHIC"/>
  <p:tag name="MH_ORDER" val="文本框 1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标题 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343"/>
  <p:tag name="MH_LIBRARY" val="GRAPHIC"/>
  <p:tag name="MH_ORDER" val="文本占位符 6"/>
</p:tagLst>
</file>

<file path=ppt/theme/theme1.xml><?xml version="1.0" encoding="utf-8"?>
<a:theme xmlns:a="http://schemas.openxmlformats.org/drawingml/2006/main" name="第一PPT，www.1ppt.com">
  <a:themeElements>
    <a:clrScheme name="自定义 1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6AB5"/>
      </a:accent1>
      <a:accent2>
        <a:srgbClr val="31A8E1"/>
      </a:accent2>
      <a:accent3>
        <a:srgbClr val="006AB5"/>
      </a:accent3>
      <a:accent4>
        <a:srgbClr val="31A8E1"/>
      </a:accent4>
      <a:accent5>
        <a:srgbClr val="006AB5"/>
      </a:accent5>
      <a:accent6>
        <a:srgbClr val="31A8E1"/>
      </a:accent6>
      <a:hlink>
        <a:srgbClr val="006AB5"/>
      </a:hlink>
      <a:folHlink>
        <a:srgbClr val="31A8E1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281</Words>
  <Application>Microsoft Office PowerPoint</Application>
  <PresentationFormat>自定义</PresentationFormat>
  <Paragraphs>76</Paragraphs>
  <Slides>22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微软雅黑</vt:lpstr>
      <vt:lpstr>Arial</vt:lpstr>
      <vt:lpstr>Calibri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动车高铁</dc:title>
  <dc:creator/>
  <cp:keywords>www.1ppt.com</cp:keywords>
  <cp:lastModifiedBy/>
  <cp:revision>28</cp:revision>
  <dcterms:created xsi:type="dcterms:W3CDTF">2017-01-13T17:48:00Z</dcterms:created>
  <dcterms:modified xsi:type="dcterms:W3CDTF">2023-07-04T07:56:09Z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A7CB94524B1C41BB8B5B2F6DB13216B7_12</vt:lpwstr>
  </property>
  <property fmtid="{D5CDD505-2E9C-101B-9397-08002B2CF9AE}" pid="3" name="KSOProductBuildVer">
    <vt:lpwstr>2052-11.1.0.14309</vt:lpwstr>
  </property>
</Properties>
</file>